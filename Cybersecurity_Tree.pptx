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dc1921f-25e2-0dd3-12d7-41a957a399c8}">
          <p14:sldIdLst>
            <p14:sldId id="256"/>
            <p14:sldId id="257"/>
            <p14:sldId id="258"/>
          </p14:sldIdLst>
        </p14:section>
        <p14:section name="Teams" id="{040f69a8-a7d0-f2bf-640e-f175fbb7c67f}">
          <p14:sldIdLst>
            <p14:sldId id="259"/>
            <p14:sldId id="260"/>
            <p14:sldId id="261"/>
            <p14:sldId id="262"/>
          </p14:sldIdLst>
        </p14:section>
        <p14:section name="Connections" id="{e44d0008-6951-5fb3-303c-1b9252db94f1}">
          <p14:sldIdLst>
            <p14:sldId id="263"/>
            <p14:sldId id="264"/>
          </p14:sldIdLst>
        </p14:section>
        <p14:section name="Roadmap" id="{a8f483bb-f7d7-375d-fc53-047e4119a87b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</a:rPr>
              <a:t>The Cyber Security Tree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stripe Foundations"/>
          <p:cNvSpPr/>
          <p:nvPr/>
        </p:nvSpPr>
        <p:spPr>
          <a:xfrm>
            <a:off x="0" y="0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ottom stripe Foundations"/>
          <p:cNvSpPr/>
          <p:nvPr/>
        </p:nvSpPr>
        <p:spPr>
          <a:xfrm>
            <a:off x="0" y="6693408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op stripe Red Team"/>
          <p:cNvSpPr/>
          <p:nvPr/>
        </p:nvSpPr>
        <p:spPr>
          <a:xfrm>
            <a:off x="2031492" y="0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Bottom stripe Red Team"/>
          <p:cNvSpPr/>
          <p:nvPr/>
        </p:nvSpPr>
        <p:spPr>
          <a:xfrm>
            <a:off x="2031492" y="6693408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op stripe Blue Team"/>
          <p:cNvSpPr/>
          <p:nvPr/>
        </p:nvSpPr>
        <p:spPr>
          <a:xfrm>
            <a:off x="4062984" y="0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Bottom stripe Blue Team"/>
          <p:cNvSpPr/>
          <p:nvPr/>
        </p:nvSpPr>
        <p:spPr>
          <a:xfrm>
            <a:off x="4062984" y="6693408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op stripe Purple Team"/>
          <p:cNvSpPr/>
          <p:nvPr/>
        </p:nvSpPr>
        <p:spPr>
          <a:xfrm>
            <a:off x="6094476" y="0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ttom stripe Purple Team"/>
          <p:cNvSpPr/>
          <p:nvPr/>
        </p:nvSpPr>
        <p:spPr>
          <a:xfrm>
            <a:off x="6094476" y="6693408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op stripe Specialized &amp; Engineering"/>
          <p:cNvSpPr/>
          <p:nvPr/>
        </p:nvSpPr>
        <p:spPr>
          <a:xfrm>
            <a:off x="8125968" y="0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Bottom stripe Specialized &amp; Engineering"/>
          <p:cNvSpPr/>
          <p:nvPr/>
        </p:nvSpPr>
        <p:spPr>
          <a:xfrm>
            <a:off x="8125968" y="6693408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op stripe GRC &amp; Legal"/>
          <p:cNvSpPr/>
          <p:nvPr/>
        </p:nvSpPr>
        <p:spPr>
          <a:xfrm>
            <a:off x="10157460" y="0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ttom stripe GRC &amp; Legal"/>
          <p:cNvSpPr/>
          <p:nvPr/>
        </p:nvSpPr>
        <p:spPr>
          <a:xfrm>
            <a:off x="10157460" y="6693408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chemeClr val="accent3"/>
                </a:solidFill>
              </a:rPr>
              <a:t>THE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Cyber Security Tree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Red Team  |  Blue Team  |  Purple Team  |  every field, tool and link</a:t>
            </a:r>
            <a:endParaRPr lang="en-US" sz="2000" dirty="0"/>
          </a:p>
        </p:txBody>
      </p:sp>
      <p:sp>
        <p:nvSpPr>
          <p:cNvPr id="17" name="Stat branches"/>
          <p:cNvSpPr/>
          <p:nvPr/>
        </p:nvSpPr>
        <p:spPr>
          <a:xfrm>
            <a:off x="82296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6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branches</a:t>
            </a:r>
            <a:endParaRPr lang="en-US" sz="1400" dirty="0"/>
          </a:p>
        </p:txBody>
      </p:sp>
      <p:sp>
        <p:nvSpPr>
          <p:cNvPr id="20" name="Stat fields"/>
          <p:cNvSpPr/>
          <p:nvPr/>
        </p:nvSpPr>
        <p:spPr>
          <a:xfrm>
            <a:off x="315468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5468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25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fields</a:t>
            </a:r>
            <a:endParaRPr lang="en-US" sz="1400" dirty="0"/>
          </a:p>
        </p:txBody>
      </p:sp>
      <p:sp>
        <p:nvSpPr>
          <p:cNvPr id="23" name="Stat tools"/>
          <p:cNvSpPr/>
          <p:nvPr/>
        </p:nvSpPr>
        <p:spPr>
          <a:xfrm>
            <a:off x="548640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101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tools</a:t>
            </a:r>
            <a:endParaRPr lang="en-US" sz="1400" dirty="0"/>
          </a:p>
        </p:txBody>
      </p:sp>
      <p:sp>
        <p:nvSpPr>
          <p:cNvPr id="26" name="Stat links"/>
          <p:cNvSpPr/>
          <p:nvPr/>
        </p:nvSpPr>
        <p:spPr>
          <a:xfrm>
            <a:off x="781812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36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links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github.com/Syed-Muhammad-Tayyab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Full Tree</a:t>
            </a:r>
            <a:endParaRPr lang="en-US" sz="3000" dirty="0"/>
          </a:p>
        </p:txBody>
      </p:sp>
      <p:pic>
        <p:nvPicPr>
          <p:cNvPr id="3" name="Tree picture" descr="/mnt/user-data/outputs/cybersecurity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583680" cy="5454326"/>
          </a:xfrm>
          <a:prstGeom prst="rect">
            <a:avLst/>
          </a:prstGeom>
        </p:spPr>
      </p:pic>
      <p:sp>
        <p:nvSpPr>
          <p:cNvPr id="4" name="Legend Root"/>
          <p:cNvSpPr/>
          <p:nvPr/>
        </p:nvSpPr>
        <p:spPr>
          <a:xfrm>
            <a:off x="7589520" y="118872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Legend accent Root"/>
          <p:cNvSpPr/>
          <p:nvPr/>
        </p:nvSpPr>
        <p:spPr>
          <a:xfrm>
            <a:off x="7589520" y="1188720"/>
            <a:ext cx="82296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Root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Cyber Security</a:t>
            </a:r>
            <a:endParaRPr lang="en-US" sz="1600" dirty="0"/>
          </a:p>
        </p:txBody>
      </p:sp>
      <p:sp>
        <p:nvSpPr>
          <p:cNvPr id="7" name="Legend Branches"/>
          <p:cNvSpPr/>
          <p:nvPr/>
        </p:nvSpPr>
        <p:spPr>
          <a:xfrm>
            <a:off x="7589520" y="237744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Legend accent Branches"/>
          <p:cNvSpPr/>
          <p:nvPr/>
        </p:nvSpPr>
        <p:spPr>
          <a:xfrm>
            <a:off x="7589520" y="2377440"/>
            <a:ext cx="82296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Branches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6 teams / types</a:t>
            </a:r>
            <a:endParaRPr lang="en-US" sz="1600" dirty="0"/>
          </a:p>
        </p:txBody>
      </p:sp>
      <p:sp>
        <p:nvSpPr>
          <p:cNvPr id="10" name="Legend Fields"/>
          <p:cNvSpPr/>
          <p:nvPr/>
        </p:nvSpPr>
        <p:spPr>
          <a:xfrm>
            <a:off x="7589520" y="356616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Legend accent Fields"/>
          <p:cNvSpPr/>
          <p:nvPr/>
        </p:nvSpPr>
        <p:spPr>
          <a:xfrm>
            <a:off x="7589520" y="3566160"/>
            <a:ext cx="82296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Fields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25 specialties</a:t>
            </a:r>
            <a:endParaRPr lang="en-US" sz="1600" dirty="0"/>
          </a:p>
        </p:txBody>
      </p:sp>
      <p:sp>
        <p:nvSpPr>
          <p:cNvPr id="13" name="Legend Leaves"/>
          <p:cNvSpPr/>
          <p:nvPr/>
        </p:nvSpPr>
        <p:spPr>
          <a:xfrm>
            <a:off x="7589520" y="475488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Legend accent Leaves"/>
          <p:cNvSpPr/>
          <p:nvPr/>
        </p:nvSpPr>
        <p:spPr>
          <a:xfrm>
            <a:off x="7589520" y="4754880"/>
            <a:ext cx="82296" cy="1005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4846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Leaves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sub-fields + tools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989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Full-size PNG included for GitHub and posters.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Six Branches, One Mission</a:t>
            </a:r>
            <a:endParaRPr lang="en-US" sz="3000" dirty="0"/>
          </a:p>
        </p:txBody>
      </p:sp>
      <p:sp>
        <p:nvSpPr>
          <p:cNvPr id="3" name="Branch Foundations"/>
          <p:cNvSpPr/>
          <p:nvPr/>
        </p:nvSpPr>
        <p:spPr>
          <a:xfrm>
            <a:off x="548640" y="137160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ranch bar Foundations"/>
          <p:cNvSpPr/>
          <p:nvPr/>
        </p:nvSpPr>
        <p:spPr>
          <a:xfrm>
            <a:off x="548640" y="1371600"/>
            <a:ext cx="3566160" cy="1097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CORE KNOWLEDGE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Foundations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The base every security role is built on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fields</a:t>
            </a:r>
            <a:endParaRPr lang="en-US" sz="1000" dirty="0"/>
          </a:p>
        </p:txBody>
      </p:sp>
      <p:sp>
        <p:nvSpPr>
          <p:cNvPr id="6" name="Branch Red Team"/>
          <p:cNvSpPr/>
          <p:nvPr/>
        </p:nvSpPr>
        <p:spPr>
          <a:xfrm>
            <a:off x="4297680" y="137160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Branch bar Red Team"/>
          <p:cNvSpPr/>
          <p:nvPr/>
        </p:nvSpPr>
        <p:spPr>
          <a:xfrm>
            <a:off x="4297680" y="1371600"/>
            <a:ext cx="3566160" cy="1097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6002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OFFENSIVE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Red Team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Think like the attacker: break in, prove impact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2"/>
                </a:solidFill>
              </a:rPr>
              <a:t>7 fields</a:t>
            </a:r>
            <a:endParaRPr lang="en-US" sz="1000" dirty="0"/>
          </a:p>
        </p:txBody>
      </p:sp>
      <p:sp>
        <p:nvSpPr>
          <p:cNvPr id="9" name="Branch Blue Team"/>
          <p:cNvSpPr/>
          <p:nvPr/>
        </p:nvSpPr>
        <p:spPr>
          <a:xfrm>
            <a:off x="8046720" y="137160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ranch bar Blue Team"/>
          <p:cNvSpPr/>
          <p:nvPr/>
        </p:nvSpPr>
        <p:spPr>
          <a:xfrm>
            <a:off x="8046720" y="1371600"/>
            <a:ext cx="3566160" cy="1097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6002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DEFENSIVE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Blue Team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Detect, respond, defend and recover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3"/>
                </a:solidFill>
              </a:rPr>
              <a:t>9 fields</a:t>
            </a:r>
            <a:endParaRPr lang="en-US" sz="1000" dirty="0"/>
          </a:p>
        </p:txBody>
      </p:sp>
      <p:sp>
        <p:nvSpPr>
          <p:cNvPr id="12" name="Branch Purple Team"/>
          <p:cNvSpPr/>
          <p:nvPr/>
        </p:nvSpPr>
        <p:spPr>
          <a:xfrm>
            <a:off x="548640" y="393192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Branch bar Purple Team"/>
          <p:cNvSpPr/>
          <p:nvPr/>
        </p:nvSpPr>
        <p:spPr>
          <a:xfrm>
            <a:off x="548640" y="3931920"/>
            <a:ext cx="3566160" cy="1097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COLLABORATIVE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Purple Team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Red and Blue working together to improve detection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4"/>
                </a:solidFill>
              </a:rPr>
              <a:t>1 field</a:t>
            </a:r>
            <a:endParaRPr lang="en-US" sz="1000" dirty="0"/>
          </a:p>
        </p:txBody>
      </p:sp>
      <p:sp>
        <p:nvSpPr>
          <p:cNvPr id="15" name="Branch Specialized &amp; Engineering"/>
          <p:cNvSpPr/>
          <p:nvPr/>
        </p:nvSpPr>
        <p:spPr>
          <a:xfrm>
            <a:off x="4297680" y="393192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Branch bar Specialized &amp; Engineering"/>
          <p:cNvSpPr/>
          <p:nvPr/>
        </p:nvSpPr>
        <p:spPr>
          <a:xfrm>
            <a:off x="4297680" y="3931920"/>
            <a:ext cx="3566160" cy="10972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41605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CROSS-CUTTING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Specialized &amp; Engineering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Secure-by-design fields that serve both sides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5"/>
                </a:solidFill>
              </a:rPr>
              <a:t>3 fields</a:t>
            </a:r>
            <a:endParaRPr lang="en-US" sz="1000" dirty="0"/>
          </a:p>
        </p:txBody>
      </p:sp>
      <p:sp>
        <p:nvSpPr>
          <p:cNvPr id="18" name="Branch GRC &amp; Legal"/>
          <p:cNvSpPr/>
          <p:nvPr/>
        </p:nvSpPr>
        <p:spPr>
          <a:xfrm>
            <a:off x="8046720" y="393192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ranch bar GRC &amp; Legal"/>
          <p:cNvSpPr/>
          <p:nvPr/>
        </p:nvSpPr>
        <p:spPr>
          <a:xfrm>
            <a:off x="8046720" y="3931920"/>
            <a:ext cx="3566160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1605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GOVERNANCE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GRC &amp; Legal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Policies, risk, compliance, audit and ethics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6"/>
                </a:solidFill>
              </a:rPr>
              <a:t>1 field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Foundations: Core Knowledge</a:t>
            </a:r>
            <a:endParaRPr lang="en-US" sz="3000" dirty="0"/>
          </a:p>
        </p:txBody>
      </p:sp>
      <p:sp>
        <p:nvSpPr>
          <p:cNvPr id="3" name="Card Networking"/>
          <p:cNvSpPr/>
          <p:nvPr/>
        </p:nvSpPr>
        <p:spPr>
          <a:xfrm>
            <a:off x="548640" y="128016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ccent Networking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Networking"/>
          <p:cNvSpPr txBox="1"/>
          <p:nvPr/>
        </p:nvSpPr>
        <p:spPr>
          <a:xfrm>
            <a:off x="749808" y="135331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Networking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OSI &amp; TCP/IP · DNS / DHCP / HTTP(S) · Routing &amp; Switching · Packet Analysis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Wireshark, tcpdump, Nmap, Packet Tracer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CCNA, Network+</a:t>
            </a:r>
            <a:endParaRPr lang="en-US" sz="2200" dirty="0"/>
          </a:p>
        </p:txBody>
      </p:sp>
      <p:sp>
        <p:nvSpPr>
          <p:cNvPr id="6" name="Card Operating Systems"/>
          <p:cNvSpPr/>
          <p:nvPr/>
        </p:nvSpPr>
        <p:spPr>
          <a:xfrm>
            <a:off x="6172200" y="128016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Accent Operating Systems"/>
          <p:cNvSpPr/>
          <p:nvPr/>
        </p:nvSpPr>
        <p:spPr>
          <a:xfrm>
            <a:off x="6172200" y="128016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Operating Systems"/>
          <p:cNvSpPr txBox="1"/>
          <p:nvPr/>
        </p:nvSpPr>
        <p:spPr>
          <a:xfrm>
            <a:off x="6373368" y="135331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Operating Systems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Linux · Windows · Active Directory · Virtualization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Kali Linux, Ubuntu, PowerShell, VirtualBox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Linux+, LPIC-1</a:t>
            </a:r>
            <a:endParaRPr lang="en-US" sz="2200" dirty="0"/>
          </a:p>
        </p:txBody>
      </p:sp>
      <p:sp>
        <p:nvSpPr>
          <p:cNvPr id="9" name="Card Programming &amp; Scripting"/>
          <p:cNvSpPr/>
          <p:nvPr/>
        </p:nvSpPr>
        <p:spPr>
          <a:xfrm>
            <a:off x="548640" y="384048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Accent Programming &amp; Scripting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Programming &amp; Scripting"/>
          <p:cNvSpPr txBox="1"/>
          <p:nvPr/>
        </p:nvSpPr>
        <p:spPr>
          <a:xfrm>
            <a:off x="749808" y="391363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Programming &amp; Scripting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Python · Bash / PowerShell · C / C++ / Assembly · JavaScript &amp; SQL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VS Code, Git, GDB, Jupyter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PCAP</a:t>
            </a:r>
            <a:endParaRPr lang="en-US" sz="2200" dirty="0"/>
          </a:p>
        </p:txBody>
      </p:sp>
      <p:sp>
        <p:nvSpPr>
          <p:cNvPr id="12" name="Card Cryptography"/>
          <p:cNvSpPr/>
          <p:nvPr/>
        </p:nvSpPr>
        <p:spPr>
          <a:xfrm>
            <a:off x="6172200" y="384048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ccent Cryptography"/>
          <p:cNvSpPr/>
          <p:nvPr/>
        </p:nvSpPr>
        <p:spPr>
          <a:xfrm>
            <a:off x="6172200" y="384048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Cryptography"/>
          <p:cNvSpPr txBox="1"/>
          <p:nvPr/>
        </p:nvSpPr>
        <p:spPr>
          <a:xfrm>
            <a:off x="6373368" y="391363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Cryptography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Symmetric / Asymmetric · Hashing &amp; Signatures · PKI &amp; TLS · Cryptanalysis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OpenSSL, CyberChef, Hashcat, John the Ripper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Crypto I (Coursera)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Red Team: Offensive</a:t>
            </a:r>
            <a:endParaRPr lang="en-US" sz="3000" dirty="0"/>
          </a:p>
        </p:txBody>
      </p:sp>
      <p:sp>
        <p:nvSpPr>
          <p:cNvPr id="3" name="Card Recon &amp; OSINT"/>
          <p:cNvSpPr/>
          <p:nvPr/>
        </p:nvSpPr>
        <p:spPr>
          <a:xfrm>
            <a:off x="548640" y="1280160"/>
            <a:ext cx="2651760" cy="2468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Accent Recon &amp; OSINT"/>
          <p:cNvSpPr/>
          <p:nvPr/>
        </p:nvSpPr>
        <p:spPr>
          <a:xfrm>
            <a:off x="548640" y="1280160"/>
            <a:ext cx="82296" cy="2468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Recon &amp; OSINT"/>
          <p:cNvSpPr txBox="1"/>
          <p:nvPr/>
        </p:nvSpPr>
        <p:spPr>
          <a:xfrm>
            <a:off x="749808" y="1353312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Recon &amp; OSINT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Passive Recon · Active Scanning · Subdomain Enumeration · Social Media OSINT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Maltego, theHarvester, Shodan, Amass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TCM OSINT</a:t>
            </a:r>
            <a:endParaRPr lang="en-US" sz="1600" dirty="0"/>
          </a:p>
        </p:txBody>
      </p:sp>
      <p:sp>
        <p:nvSpPr>
          <p:cNvPr id="6" name="Card Penetration Testing"/>
          <p:cNvSpPr/>
          <p:nvPr/>
        </p:nvSpPr>
        <p:spPr>
          <a:xfrm>
            <a:off x="3355848" y="1280160"/>
            <a:ext cx="2651760" cy="2468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Accent Penetration Testing"/>
          <p:cNvSpPr/>
          <p:nvPr/>
        </p:nvSpPr>
        <p:spPr>
          <a:xfrm>
            <a:off x="3355848" y="1280160"/>
            <a:ext cx="82296" cy="2468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Penetration Testing"/>
          <p:cNvSpPr txBox="1"/>
          <p:nvPr/>
        </p:nvSpPr>
        <p:spPr>
          <a:xfrm>
            <a:off x="3557016" y="1353312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Penetration Testing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Web Apps · Network · Wireless · Mobile &amp; API · Active Directory · Cloud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Burp Suite, Metasploit, SQLmap, Hydra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eJPT, PNPT, OSCP</a:t>
            </a:r>
            <a:endParaRPr lang="en-US" sz="1600" dirty="0"/>
          </a:p>
        </p:txBody>
      </p:sp>
      <p:sp>
        <p:nvSpPr>
          <p:cNvPr id="9" name="Card Exploit Dev &amp; Reverse Eng."/>
          <p:cNvSpPr/>
          <p:nvPr/>
        </p:nvSpPr>
        <p:spPr>
          <a:xfrm>
            <a:off x="6163056" y="1280160"/>
            <a:ext cx="2651760" cy="2468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Accent Exploit Dev &amp; Reverse Eng."/>
          <p:cNvSpPr/>
          <p:nvPr/>
        </p:nvSpPr>
        <p:spPr>
          <a:xfrm>
            <a:off x="6163056" y="1280160"/>
            <a:ext cx="82296" cy="2468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Exploit Dev &amp; Reverse Eng."/>
          <p:cNvSpPr txBox="1"/>
          <p:nvPr/>
        </p:nvSpPr>
        <p:spPr>
          <a:xfrm>
            <a:off x="6364224" y="1353312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Exploit Dev &amp; Reverse Eng.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Buffer Overflows · ROP / Shellcode · Fuzzing · Binary Exploitation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GDB + pwndbg, Ghidra, IDA, pwntools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OSED, OSEE</a:t>
            </a:r>
            <a:endParaRPr lang="en-US" sz="1600" dirty="0"/>
          </a:p>
        </p:txBody>
      </p:sp>
      <p:sp>
        <p:nvSpPr>
          <p:cNvPr id="12" name="Card Social Engineering"/>
          <p:cNvSpPr/>
          <p:nvPr/>
        </p:nvSpPr>
        <p:spPr>
          <a:xfrm>
            <a:off x="8970264" y="1280160"/>
            <a:ext cx="2651760" cy="2468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Accent Social Engineering"/>
          <p:cNvSpPr/>
          <p:nvPr/>
        </p:nvSpPr>
        <p:spPr>
          <a:xfrm>
            <a:off x="8970264" y="1280160"/>
            <a:ext cx="82296" cy="2468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Social Engineering"/>
          <p:cNvSpPr txBox="1"/>
          <p:nvPr/>
        </p:nvSpPr>
        <p:spPr>
          <a:xfrm>
            <a:off x="9171432" y="1353312"/>
            <a:ext cx="23225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Social Engineering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Phishing / Vishing · Pretexting · Awareness Simulations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GoPhish, SET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SEPP</a:t>
            </a:r>
            <a:endParaRPr lang="en-US" sz="1600" dirty="0"/>
          </a:p>
        </p:txBody>
      </p:sp>
      <p:sp>
        <p:nvSpPr>
          <p:cNvPr id="15" name="Card Post-Exploitation &amp; C2"/>
          <p:cNvSpPr/>
          <p:nvPr/>
        </p:nvSpPr>
        <p:spPr>
          <a:xfrm>
            <a:off x="548640" y="3904488"/>
            <a:ext cx="3611880" cy="2240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Accent Post-Exploitation &amp; C2"/>
          <p:cNvSpPr/>
          <p:nvPr/>
        </p:nvSpPr>
        <p:spPr>
          <a:xfrm>
            <a:off x="548640" y="3904488"/>
            <a:ext cx="82296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Post-Exploitation &amp; C2"/>
          <p:cNvSpPr txBox="1"/>
          <p:nvPr/>
        </p:nvSpPr>
        <p:spPr>
          <a:xfrm>
            <a:off x="749808" y="3977640"/>
            <a:ext cx="3282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Post-Exploitation &amp; C2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Privilege Escalation · Persistence · Lateral Movement · C2 Frameworks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2"/>
                </a:solidFill>
              </a:rPr>
              <a:t>Tools: Sliver, Mimikatz, Empire, Cobalt Strike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CRTO, CRTP</a:t>
            </a:r>
            <a:endParaRPr lang="en-US" sz="1600" dirty="0"/>
          </a:p>
        </p:txBody>
      </p:sp>
      <p:sp>
        <p:nvSpPr>
          <p:cNvPr id="18" name="Card Adversary Emulation"/>
          <p:cNvSpPr/>
          <p:nvPr/>
        </p:nvSpPr>
        <p:spPr>
          <a:xfrm>
            <a:off x="4315968" y="3904488"/>
            <a:ext cx="3611880" cy="2240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Accent Adversary Emulation"/>
          <p:cNvSpPr/>
          <p:nvPr/>
        </p:nvSpPr>
        <p:spPr>
          <a:xfrm>
            <a:off x="4315968" y="3904488"/>
            <a:ext cx="82296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Adversary Emulation"/>
          <p:cNvSpPr txBox="1"/>
          <p:nvPr/>
        </p:nvSpPr>
        <p:spPr>
          <a:xfrm>
            <a:off x="4517136" y="3977640"/>
            <a:ext cx="3282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Adversary Emulation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TTP Emulation (ATT&amp;CK) · Evasion Concepts · Red Team Ops Planning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2"/>
                </a:solidFill>
              </a:rPr>
              <a:t>Tools: Caldera, Atomic Red Team, Covenant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CRTO, CRTL</a:t>
            </a:r>
            <a:endParaRPr lang="en-US" sz="1600" dirty="0"/>
          </a:p>
        </p:txBody>
      </p:sp>
      <p:sp>
        <p:nvSpPr>
          <p:cNvPr id="21" name="Card Physical &amp; Hardware"/>
          <p:cNvSpPr/>
          <p:nvPr/>
        </p:nvSpPr>
        <p:spPr>
          <a:xfrm>
            <a:off x="8083296" y="3904488"/>
            <a:ext cx="3611880" cy="2240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Accent Physical &amp; Hardware"/>
          <p:cNvSpPr/>
          <p:nvPr/>
        </p:nvSpPr>
        <p:spPr>
          <a:xfrm>
            <a:off x="8083296" y="3904488"/>
            <a:ext cx="82296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Physical &amp; Hardware"/>
          <p:cNvSpPr txBox="1"/>
          <p:nvPr/>
        </p:nvSpPr>
        <p:spPr>
          <a:xfrm>
            <a:off x="8284464" y="3977640"/>
            <a:ext cx="3282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Physical &amp; Hardware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Lock / Badge Security · Hardware Hacking · RF &amp; SDR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2"/>
                </a:solidFill>
              </a:rPr>
              <a:t>Tools: Flipper Zero, Proxmark3, HackRF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TCM Physical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996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Authorized testing only. Break it to fix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Blue Team: Defensive</a:t>
            </a:r>
            <a:endParaRPr lang="en-US" sz="3000" dirty="0"/>
          </a:p>
        </p:txBody>
      </p:sp>
      <p:sp>
        <p:nvSpPr>
          <p:cNvPr id="3" name="Card SOC &amp; Security Monitoring"/>
          <p:cNvSpPr/>
          <p:nvPr/>
        </p:nvSpPr>
        <p:spPr>
          <a:xfrm>
            <a:off x="548640" y="1188720"/>
            <a:ext cx="3611880" cy="1627632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Accent SOC &amp; Security Monitoring"/>
          <p:cNvSpPr/>
          <p:nvPr/>
        </p:nvSpPr>
        <p:spPr>
          <a:xfrm>
            <a:off x="548640" y="1188720"/>
            <a:ext cx="82296" cy="16276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SOC &amp; Security Monitoring"/>
          <p:cNvSpPr txBox="1"/>
          <p:nvPr/>
        </p:nvSpPr>
        <p:spPr>
          <a:xfrm>
            <a:off x="749808" y="1261872"/>
            <a:ext cx="32826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SOC &amp; Security Monitoring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SIEM · Log Analysis · Alert Triage (L1-L3) · Detection Rules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chemeClr val="accent3"/>
                </a:solidFill>
              </a:rPr>
              <a:t>Tools: Splunk, Elastic / ELK, Wazuh, Microsoft Sentinel</a:t>
            </a:r>
            <a:endParaRPr lang="en-US" sz="15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chemeClr val="bg2"/>
                </a:solidFill>
              </a:rPr>
              <a:t>Certs: Security+, BTL1, SC-200</a:t>
            </a:r>
            <a:endParaRPr lang="en-US" sz="1500" dirty="0"/>
          </a:p>
        </p:txBody>
      </p:sp>
      <p:sp>
        <p:nvSpPr>
          <p:cNvPr id="6" name="Card Incident Response"/>
          <p:cNvSpPr/>
          <p:nvPr/>
        </p:nvSpPr>
        <p:spPr>
          <a:xfrm>
            <a:off x="4288536" y="1188720"/>
            <a:ext cx="3611880" cy="1627632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Accent Incident Response"/>
          <p:cNvSpPr/>
          <p:nvPr/>
        </p:nvSpPr>
        <p:spPr>
          <a:xfrm>
            <a:off x="4288536" y="1188720"/>
            <a:ext cx="82296" cy="16276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Incident Response"/>
          <p:cNvSpPr txBox="1"/>
          <p:nvPr/>
        </p:nvSpPr>
        <p:spPr>
          <a:xfrm>
            <a:off x="4489704" y="1261872"/>
            <a:ext cx="32826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Incident Response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NIST IR Lifecycle · Playbooks · Containment · SOAR Automation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chemeClr val="accent3"/>
                </a:solidFill>
              </a:rPr>
              <a:t>Tools: TheHive, Velociraptor, Cortex XSOAR, Shuffle</a:t>
            </a:r>
            <a:endParaRPr lang="en-US" sz="15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chemeClr val="bg2"/>
                </a:solidFill>
              </a:rPr>
              <a:t>Certs: GCIH, ECIH</a:t>
            </a:r>
            <a:endParaRPr lang="en-US" sz="1500" dirty="0"/>
          </a:p>
        </p:txBody>
      </p:sp>
      <p:sp>
        <p:nvSpPr>
          <p:cNvPr id="9" name="Card Digital Forensics"/>
          <p:cNvSpPr/>
          <p:nvPr/>
        </p:nvSpPr>
        <p:spPr>
          <a:xfrm>
            <a:off x="8028432" y="1188720"/>
            <a:ext cx="3611880" cy="1627632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Accent Digital Forensics"/>
          <p:cNvSpPr/>
          <p:nvPr/>
        </p:nvSpPr>
        <p:spPr>
          <a:xfrm>
            <a:off x="8028432" y="1188720"/>
            <a:ext cx="82296" cy="16276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Digital Forensics"/>
          <p:cNvSpPr txBox="1"/>
          <p:nvPr/>
        </p:nvSpPr>
        <p:spPr>
          <a:xfrm>
            <a:off x="8229600" y="1261872"/>
            <a:ext cx="32826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Digital Forensics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Disk · Memory · Network · Mobile &amp; Cloud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chemeClr val="accent3"/>
                </a:solidFill>
              </a:rPr>
              <a:t>Tools: Autopsy, Volatility, FTK Imager, Sleuth Kit</a:t>
            </a:r>
            <a:endParaRPr lang="en-US" sz="15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chemeClr val="bg2"/>
                </a:solidFill>
              </a:rPr>
              <a:t>Certs: GCFE, GCFA, CHFI</a:t>
            </a:r>
            <a:endParaRPr lang="en-US" sz="1500" dirty="0"/>
          </a:p>
        </p:txBody>
      </p:sp>
      <p:sp>
        <p:nvSpPr>
          <p:cNvPr id="12" name="Card Threat Intel &amp; Hunting"/>
          <p:cNvSpPr/>
          <p:nvPr/>
        </p:nvSpPr>
        <p:spPr>
          <a:xfrm>
            <a:off x="548640" y="2944368"/>
            <a:ext cx="3611880" cy="1627632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Accent Threat Intel &amp; Hunting"/>
          <p:cNvSpPr/>
          <p:nvPr/>
        </p:nvSpPr>
        <p:spPr>
          <a:xfrm>
            <a:off x="548640" y="2944368"/>
            <a:ext cx="82296" cy="16276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Threat Intel &amp; Hunting"/>
          <p:cNvSpPr txBox="1"/>
          <p:nvPr/>
        </p:nvSpPr>
        <p:spPr>
          <a:xfrm>
            <a:off x="749808" y="3017520"/>
            <a:ext cx="32826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Threat Intel &amp; Hunting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IOCs &amp; TTPs · MITRE ATT&amp;CK · Threat Hunting · YARA / Sigma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chemeClr val="accent3"/>
                </a:solidFill>
              </a:rPr>
              <a:t>Tools: MISP, OpenCTI, VirusTotal, YARA</a:t>
            </a:r>
            <a:endParaRPr lang="en-US" sz="15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chemeClr val="bg2"/>
                </a:solidFill>
              </a:rPr>
              <a:t>Certs: GCTI, CTIA</a:t>
            </a:r>
            <a:endParaRPr lang="en-US" sz="1500" dirty="0"/>
          </a:p>
        </p:txBody>
      </p:sp>
      <p:sp>
        <p:nvSpPr>
          <p:cNvPr id="15" name="Card Malware Analysis"/>
          <p:cNvSpPr/>
          <p:nvPr/>
        </p:nvSpPr>
        <p:spPr>
          <a:xfrm>
            <a:off x="4288536" y="2944368"/>
            <a:ext cx="3611880" cy="1627632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Accent Malware Analysis"/>
          <p:cNvSpPr/>
          <p:nvPr/>
        </p:nvSpPr>
        <p:spPr>
          <a:xfrm>
            <a:off x="4288536" y="2944368"/>
            <a:ext cx="82296" cy="16276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Malware Analysis"/>
          <p:cNvSpPr txBox="1"/>
          <p:nvPr/>
        </p:nvSpPr>
        <p:spPr>
          <a:xfrm>
            <a:off x="4489704" y="3017520"/>
            <a:ext cx="32826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Malware Analysis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Static Analysis · Dynamic Analysis · Sandboxing · Reverse Engineering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chemeClr val="accent3"/>
                </a:solidFill>
              </a:rPr>
              <a:t>Tools: Ghidra, x64dbg, PEStudio, ANY.RUN</a:t>
            </a:r>
            <a:endParaRPr lang="en-US" sz="15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chemeClr val="bg2"/>
                </a:solidFill>
              </a:rPr>
              <a:t>Certs: GREM, eCMAP</a:t>
            </a:r>
            <a:endParaRPr lang="en-US" sz="1500" dirty="0"/>
          </a:p>
        </p:txBody>
      </p:sp>
      <p:sp>
        <p:nvSpPr>
          <p:cNvPr id="18" name="Card Network Defense"/>
          <p:cNvSpPr/>
          <p:nvPr/>
        </p:nvSpPr>
        <p:spPr>
          <a:xfrm>
            <a:off x="8028432" y="2944368"/>
            <a:ext cx="3611880" cy="1627632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Accent Network Defense"/>
          <p:cNvSpPr/>
          <p:nvPr/>
        </p:nvSpPr>
        <p:spPr>
          <a:xfrm>
            <a:off x="8028432" y="2944368"/>
            <a:ext cx="82296" cy="16276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Network Defense"/>
          <p:cNvSpPr txBox="1"/>
          <p:nvPr/>
        </p:nvSpPr>
        <p:spPr>
          <a:xfrm>
            <a:off x="8229600" y="3017520"/>
            <a:ext cx="32826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Network Defense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Firewalls · IDS / IPS · Segmentation &amp; Zero Trust · VPN &amp; Hardening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chemeClr val="accent3"/>
                </a:solidFill>
              </a:rPr>
              <a:t>Tools: pfSense, Snort, Suricata, Zeek</a:t>
            </a:r>
            <a:endParaRPr lang="en-US" sz="15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chemeClr val="bg2"/>
                </a:solidFill>
              </a:rPr>
              <a:t>Certs: CCNA Security, NSE 4</a:t>
            </a:r>
            <a:endParaRPr lang="en-US" sz="1500" dirty="0"/>
          </a:p>
        </p:txBody>
      </p:sp>
      <p:sp>
        <p:nvSpPr>
          <p:cNvPr id="21" name="Card Endpoint Security"/>
          <p:cNvSpPr/>
          <p:nvPr/>
        </p:nvSpPr>
        <p:spPr>
          <a:xfrm>
            <a:off x="548640" y="4700016"/>
            <a:ext cx="3611880" cy="1627632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Accent Endpoint Security"/>
          <p:cNvSpPr/>
          <p:nvPr/>
        </p:nvSpPr>
        <p:spPr>
          <a:xfrm>
            <a:off x="548640" y="4700016"/>
            <a:ext cx="82296" cy="16276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Endpoint Security"/>
          <p:cNvSpPr txBox="1"/>
          <p:nvPr/>
        </p:nvSpPr>
        <p:spPr>
          <a:xfrm>
            <a:off x="749808" y="4773168"/>
            <a:ext cx="32826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Endpoint Security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EDR / XDR · Anti-malware · Patching · Hardening (CIS)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chemeClr val="accent3"/>
                </a:solidFill>
              </a:rPr>
              <a:t>Tools: Microsoft Defender, CrowdStrike, SentinelOne, OSSEC</a:t>
            </a:r>
            <a:endParaRPr lang="en-US" sz="15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chemeClr val="bg2"/>
                </a:solidFill>
              </a:rPr>
              <a:t>Certs: CySA+</a:t>
            </a:r>
            <a:endParaRPr lang="en-US" sz="1500" dirty="0"/>
          </a:p>
        </p:txBody>
      </p:sp>
      <p:sp>
        <p:nvSpPr>
          <p:cNvPr id="24" name="Card Vulnerability Management"/>
          <p:cNvSpPr/>
          <p:nvPr/>
        </p:nvSpPr>
        <p:spPr>
          <a:xfrm>
            <a:off x="4288536" y="4700016"/>
            <a:ext cx="3611880" cy="1627632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Accent Vulnerability Management"/>
          <p:cNvSpPr/>
          <p:nvPr/>
        </p:nvSpPr>
        <p:spPr>
          <a:xfrm>
            <a:off x="4288536" y="4700016"/>
            <a:ext cx="82296" cy="16276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Vulnerability Management"/>
          <p:cNvSpPr txBox="1"/>
          <p:nvPr/>
        </p:nvSpPr>
        <p:spPr>
          <a:xfrm>
            <a:off x="4489704" y="4773168"/>
            <a:ext cx="32826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Vulnerability Management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Scanning · CVSS / EPSS Prioritization · Patch Management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chemeClr val="accent3"/>
                </a:solidFill>
              </a:rPr>
              <a:t>Tools: Nessus, OpenVAS, Qualys</a:t>
            </a:r>
            <a:endParaRPr lang="en-US" sz="15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chemeClr val="bg2"/>
                </a:solidFill>
              </a:rPr>
              <a:t>Certs: CySA+</a:t>
            </a:r>
            <a:endParaRPr lang="en-US" sz="1500" dirty="0"/>
          </a:p>
        </p:txBody>
      </p:sp>
      <p:sp>
        <p:nvSpPr>
          <p:cNvPr id="27" name="Card Identity &amp; Access Mgmt"/>
          <p:cNvSpPr/>
          <p:nvPr/>
        </p:nvSpPr>
        <p:spPr>
          <a:xfrm>
            <a:off x="8028432" y="4700016"/>
            <a:ext cx="3611880" cy="1627632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Accent Identity &amp; Access Mgmt"/>
          <p:cNvSpPr/>
          <p:nvPr/>
        </p:nvSpPr>
        <p:spPr>
          <a:xfrm>
            <a:off x="8028432" y="4700016"/>
            <a:ext cx="82296" cy="16276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Identity &amp; Access Mgmt"/>
          <p:cNvSpPr txBox="1"/>
          <p:nvPr/>
        </p:nvSpPr>
        <p:spPr>
          <a:xfrm>
            <a:off x="8229600" y="4773168"/>
            <a:ext cx="32826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Identity &amp; Access Mgmt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MFA &amp; SSO · PAM · Directory Services · Zero Trust Identity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chemeClr val="accent3"/>
                </a:solidFill>
              </a:rPr>
              <a:t>Tools: Okta, Entra ID, CyberArk, Keycloak</a:t>
            </a:r>
            <a:endParaRPr lang="en-US" sz="15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chemeClr val="bg2"/>
                </a:solidFill>
              </a:rPr>
              <a:t>Certs: SC-300, CISSP (IAM)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Purple, Engineering &amp; GRC</a:t>
            </a:r>
            <a:endParaRPr lang="en-US" sz="3000" dirty="0"/>
          </a:p>
        </p:txBody>
      </p:sp>
      <p:sp>
        <p:nvSpPr>
          <p:cNvPr id="3" name="Card Purple Teaming"/>
          <p:cNvSpPr/>
          <p:nvPr/>
        </p:nvSpPr>
        <p:spPr>
          <a:xfrm>
            <a:off x="548640" y="1280160"/>
            <a:ext cx="36118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Accent Purple Teaming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Purple Teaming"/>
          <p:cNvSpPr txBox="1"/>
          <p:nvPr/>
        </p:nvSpPr>
        <p:spPr>
          <a:xfrm>
            <a:off x="749808" y="1353312"/>
            <a:ext cx="32826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PURPLE TEAM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Purple Teaming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Detection Engineering · Attack Simulation · ATT&amp;CK Coverage Mapping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4"/>
                </a:solidFill>
              </a:rPr>
              <a:t>Tools: Caldera, Atomic Red Team, VECTR, Sigma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SANS SEC599</a:t>
            </a:r>
            <a:endParaRPr lang="en-US" sz="900" dirty="0"/>
          </a:p>
        </p:txBody>
      </p:sp>
      <p:sp>
        <p:nvSpPr>
          <p:cNvPr id="6" name="Card AppSec &amp; DevSecOps"/>
          <p:cNvSpPr/>
          <p:nvPr/>
        </p:nvSpPr>
        <p:spPr>
          <a:xfrm>
            <a:off x="4343400" y="1280160"/>
            <a:ext cx="36118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Accent AppSec &amp; DevSecOps"/>
          <p:cNvSpPr/>
          <p:nvPr/>
        </p:nvSpPr>
        <p:spPr>
          <a:xfrm>
            <a:off x="4343400" y="128016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AppSec &amp; DevSecOps"/>
          <p:cNvSpPr txBox="1"/>
          <p:nvPr/>
        </p:nvSpPr>
        <p:spPr>
          <a:xfrm>
            <a:off x="4544568" y="1353312"/>
            <a:ext cx="32826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SPECIALIZED &amp; ENGINEERING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AppSec &amp; DevSecOps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Secure SDLC · SAST / DAST / SCA · OWASP Top 10 · Code Review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5"/>
                </a:solidFill>
              </a:rPr>
              <a:t>Tools: Semgrep, SonarQube, OWASP ZAP, Snyk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CSSLP, OSWE</a:t>
            </a:r>
            <a:endParaRPr lang="en-US" sz="900" dirty="0"/>
          </a:p>
        </p:txBody>
      </p:sp>
      <p:sp>
        <p:nvSpPr>
          <p:cNvPr id="9" name="Card Cloud &amp; Container Security"/>
          <p:cNvSpPr/>
          <p:nvPr/>
        </p:nvSpPr>
        <p:spPr>
          <a:xfrm>
            <a:off x="8138160" y="1280160"/>
            <a:ext cx="36118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Accent Cloud &amp; Container Security"/>
          <p:cNvSpPr/>
          <p:nvPr/>
        </p:nvSpPr>
        <p:spPr>
          <a:xfrm>
            <a:off x="8138160" y="128016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Cloud &amp; Container Security"/>
          <p:cNvSpPr txBox="1"/>
          <p:nvPr/>
        </p:nvSpPr>
        <p:spPr>
          <a:xfrm>
            <a:off x="8339328" y="1353312"/>
            <a:ext cx="32826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SPECIALIZED &amp; ENGINEERING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Cloud &amp; Container Security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Cloud IAM · CSPM · Container / K8s · Serverless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5"/>
                </a:solidFill>
              </a:rPr>
              <a:t>Tools: Prowler, ScoutSuite, Trivy, Pacu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AZ-500, CCSP, AWS Security</a:t>
            </a:r>
            <a:endParaRPr lang="en-US" sz="900" dirty="0"/>
          </a:p>
        </p:txBody>
      </p:sp>
      <p:sp>
        <p:nvSpPr>
          <p:cNvPr id="12" name="Card Specialized Domains"/>
          <p:cNvSpPr/>
          <p:nvPr/>
        </p:nvSpPr>
        <p:spPr>
          <a:xfrm>
            <a:off x="548640" y="3840480"/>
            <a:ext cx="36118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Accent Specialized Domains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Specialized Domains"/>
          <p:cNvSpPr txBox="1"/>
          <p:nvPr/>
        </p:nvSpPr>
        <p:spPr>
          <a:xfrm>
            <a:off x="749808" y="3913632"/>
            <a:ext cx="32826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SPECIALIZED &amp; ENGINEERING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Specialized Domains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IoT / OT / ICS · Mobile (Android/iOS) · Blockchain / Web3 · AI / ML Security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5"/>
                </a:solidFill>
              </a:rPr>
              <a:t>Tools: Frida, MobSF, Mythril, Shodan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GICSP, OSMR</a:t>
            </a:r>
            <a:endParaRPr lang="en-US" sz="900" dirty="0"/>
          </a:p>
        </p:txBody>
      </p:sp>
      <p:sp>
        <p:nvSpPr>
          <p:cNvPr id="15" name="Card GRC, Privacy &amp; Ethics"/>
          <p:cNvSpPr/>
          <p:nvPr/>
        </p:nvSpPr>
        <p:spPr>
          <a:xfrm>
            <a:off x="4343400" y="3840480"/>
            <a:ext cx="36118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Accent GRC, Privacy &amp; Ethics"/>
          <p:cNvSpPr/>
          <p:nvPr/>
        </p:nvSpPr>
        <p:spPr>
          <a:xfrm>
            <a:off x="4343400" y="3840480"/>
            <a:ext cx="82296" cy="23774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GRC, Privacy &amp; Ethics"/>
          <p:cNvSpPr txBox="1"/>
          <p:nvPr/>
        </p:nvSpPr>
        <p:spPr>
          <a:xfrm>
            <a:off x="4544568" y="3913632"/>
            <a:ext cx="32826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GRC &amp; LEGAL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GRC, Privacy &amp; Ethics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Risk Management · Compliance (ISO 27001, NIST, PCI DSS, SOC 2) · Privacy (GDPR) · Audit &amp; Cyber Law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6"/>
                </a:solidFill>
              </a:rPr>
              <a:t>Tools: Archer, OneTrust, Vanta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CISM, CISA, CISSP, ISO 27001 LA</a:t>
            </a:r>
            <a:endParaRPr lang="en-US" sz="900" dirty="0"/>
          </a:p>
        </p:txBody>
      </p:sp>
      <p:sp>
        <p:nvSpPr>
          <p:cNvPr id="18" name="Note card"/>
          <p:cNvSpPr/>
          <p:nvPr/>
        </p:nvSpPr>
        <p:spPr>
          <a:xfrm>
            <a:off x="8138160" y="3840480"/>
            <a:ext cx="3611880" cy="237744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39776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bg2"/>
                </a:solidFill>
              </a:rPr>
              <a:t>HOW TO READ THIS</a:t>
            </a:r>
            <a:endParaRPr lang="en-US" sz="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accent4"/>
                </a:solidFill>
              </a:rPr>
              <a:t>Purple = Red + Blue together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accent5"/>
                </a:solidFill>
              </a:rPr>
              <a:t>Green = built into products &amp; cloud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accent6"/>
                </a:solidFill>
              </a:rPr>
              <a:t>Cyan = policy, risk and law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How Every Field Connects</a:t>
            </a:r>
            <a:endParaRPr lang="en-US" sz="3000" dirty="0"/>
          </a:p>
        </p:txBody>
      </p:sp>
      <p:pic>
        <p:nvPicPr>
          <p:cNvPr id="3" name="Link map picture" descr="/mnt/user-data/outputs/cybersecurity_link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766560" cy="5488432"/>
          </a:xfrm>
          <a:prstGeom prst="rect">
            <a:avLst/>
          </a:prstGeom>
        </p:spPr>
      </p:pic>
      <p:sp>
        <p:nvSpPr>
          <p:cNvPr id="4" name="Key link 1"/>
          <p:cNvSpPr/>
          <p:nvPr/>
        </p:nvSpPr>
        <p:spPr>
          <a:xfrm>
            <a:off x="7589520" y="1188720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0" y="12252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Recon -&gt; Pentest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targets &amp; attack surface</a:t>
            </a:r>
            <a:endParaRPr lang="en-US" sz="1300" dirty="0"/>
          </a:p>
        </p:txBody>
      </p:sp>
      <p:sp>
        <p:nvSpPr>
          <p:cNvPr id="6" name="Key link 2"/>
          <p:cNvSpPr/>
          <p:nvPr/>
        </p:nvSpPr>
        <p:spPr>
          <a:xfrm>
            <a:off x="7589520" y="2039112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0" y="20756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Pentest -&gt; Vuln Mgmt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findings become fixes</a:t>
            </a:r>
            <a:endParaRPr lang="en-US" sz="1300" dirty="0"/>
          </a:p>
        </p:txBody>
      </p:sp>
      <p:sp>
        <p:nvSpPr>
          <p:cNvPr id="8" name="Key link 3"/>
          <p:cNvSpPr/>
          <p:nvPr/>
        </p:nvSpPr>
        <p:spPr>
          <a:xfrm>
            <a:off x="7589520" y="2889504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2926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Emulation -&gt; Purple -&gt; SOC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attacks become detections</a:t>
            </a:r>
            <a:endParaRPr lang="en-US" sz="1300" dirty="0"/>
          </a:p>
        </p:txBody>
      </p:sp>
      <p:sp>
        <p:nvSpPr>
          <p:cNvPr id="10" name="Key link 4"/>
          <p:cNvSpPr/>
          <p:nvPr/>
        </p:nvSpPr>
        <p:spPr>
          <a:xfrm>
            <a:off x="7589520" y="3739896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37764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SOC -&gt; IR -&gt; DFIR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alert, response, evidence</a:t>
            </a:r>
            <a:endParaRPr lang="en-US" sz="1300" dirty="0"/>
          </a:p>
        </p:txBody>
      </p:sp>
      <p:sp>
        <p:nvSpPr>
          <p:cNvPr id="12" name="Key link 5"/>
          <p:cNvSpPr/>
          <p:nvPr/>
        </p:nvSpPr>
        <p:spPr>
          <a:xfrm>
            <a:off x="7589520" y="4590288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46268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Malware -&gt; Threat Intel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YARA rules &amp; IOCs</a:t>
            </a:r>
            <a:endParaRPr lang="en-US" sz="1300" dirty="0"/>
          </a:p>
        </p:txBody>
      </p:sp>
      <p:sp>
        <p:nvSpPr>
          <p:cNvPr id="14" name="Key link 6"/>
          <p:cNvSpPr/>
          <p:nvPr/>
        </p:nvSpPr>
        <p:spPr>
          <a:xfrm>
            <a:off x="7589520" y="5440680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54772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Crypto -&gt; IAM / Network / AppSec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trust everywhere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Red vs Blue: The Kill Chain</a:t>
            </a:r>
            <a:endParaRPr lang="en-US" sz="3000" dirty="0"/>
          </a:p>
        </p:txBody>
      </p:sp>
      <p:graphicFrame>
        <p:nvGraphicFramePr>
          <p:cNvPr id="10" name="Kill chai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206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Red Team does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Blue Team answers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1. Reconnaissance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ECACA"/>
                          </a:solidFill>
                        </a:rPr>
                        <a:t>OSINT, scanning, enumeration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FDBFE"/>
                          </a:solidFill>
                        </a:rPr>
                        <a:t>Threat intel, honeypots, minimize exposure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2. Weaponization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ECACA"/>
                          </a:solidFill>
                        </a:rPr>
                        <a:t>Craft payloads &amp; exploits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FDBFE"/>
                          </a:solidFill>
                        </a:rPr>
                        <a:t>Malware analysis, YARA, sandboxing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3. Delivery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ECACA"/>
                          </a:solidFill>
                        </a:rPr>
                        <a:t>Phishing, drive-by, USB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FDBFE"/>
                          </a:solidFill>
                        </a:rPr>
                        <a:t>Email gateway, awareness training, web filtering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4. Exploitation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ECACA"/>
                          </a:solidFill>
                        </a:rPr>
                        <a:t>Abuse a vulnerability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FDBFE"/>
                          </a:solidFill>
                        </a:rPr>
                        <a:t>Patching, IPS, hardening, vuln management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5. Installation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ECACA"/>
                          </a:solidFill>
                        </a:rPr>
                        <a:t>Persistence, backdoors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FDBFE"/>
                          </a:solidFill>
                        </a:rPr>
                        <a:t>EDR, app allow-listing, integrity monitoring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6. Command &amp; Control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ECACA"/>
                          </a:solidFill>
                        </a:rPr>
                        <a:t>Beacon to C2 server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FDBFE"/>
                          </a:solidFill>
                        </a:rPr>
                        <a:t>DNS sinkhole, egress filtering, NDR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7. Actions on Objectives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ECACA"/>
                          </a:solidFill>
                        </a:rPr>
                        <a:t>Exfiltration, ransomware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FDBFE"/>
                          </a:solidFill>
                        </a:rPr>
                        <a:t>DLP, backups, incident response, forensics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Folder Structure for Your Study Repo</a:t>
            </a:r>
            <a:endParaRPr lang="en-US" sz="3000" dirty="0"/>
          </a:p>
        </p:txBody>
      </p:sp>
      <p:sp>
        <p:nvSpPr>
          <p:cNvPr id="3" name="Code panel 1"/>
          <p:cNvSpPr/>
          <p:nvPr/>
        </p:nvSpPr>
        <p:spPr>
          <a:xfrm>
            <a:off x="548640" y="1188720"/>
            <a:ext cx="5440680" cy="50749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502920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00_Foundations/  [Core Knowledge]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Networking/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Operating_Systems/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Programming_Scripting/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Cryptography/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01_Red_Team/  [Offensive]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Recon_OSINT/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Penetration_Testing/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Exploit_Development/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Social_Engineering/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Post_Exploitation_C2/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Adversary_Emulation/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Physical_Hardware/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02_Blue_Team/  [Defensive]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SOC_Monitoring/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Incident_Response/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Digital_Forensics/</a:t>
            </a:r>
            <a:endParaRPr lang="en-US" sz="1300" dirty="0"/>
          </a:p>
        </p:txBody>
      </p:sp>
      <p:sp>
        <p:nvSpPr>
          <p:cNvPr id="5" name="Code panel 2"/>
          <p:cNvSpPr/>
          <p:nvPr/>
        </p:nvSpPr>
        <p:spPr>
          <a:xfrm>
            <a:off x="6172200" y="1188720"/>
            <a:ext cx="5440680" cy="50749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280160"/>
            <a:ext cx="502920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Threat_Intel_Hunting/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Malware_Analysis/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Network_Defense/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Endpoint_Security/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Vulnerability_Management/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Identity_Access/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03_Purple_Team/  [Collaborative]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Purple_Teaming/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04_Specialized_Engineering/  [Cross-cutting]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AppSec_DevSecOps/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Cloud_Security/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Specialized_Domains/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05_GRC_Legal/  [Governance]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GRC_Privacy_Ethics/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06_Certs_Roadmap/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07_Labs_CTF/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08_Tools/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09_Resources/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Learning &amp; Certification Roadmap</a:t>
            </a:r>
            <a:endParaRPr lang="en-US" sz="3000" dirty="0"/>
          </a:p>
        </p:txBody>
      </p:sp>
      <p:sp>
        <p:nvSpPr>
          <p:cNvPr id="3" name="Track Beginner"/>
          <p:cNvSpPr/>
          <p:nvPr/>
        </p:nvSpPr>
        <p:spPr>
          <a:xfrm>
            <a:off x="548640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rack bar Beginner"/>
          <p:cNvSpPr/>
          <p:nvPr/>
        </p:nvSpPr>
        <p:spPr>
          <a:xfrm>
            <a:off x="548640" y="1280160"/>
            <a:ext cx="265176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Beginner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Security+, CEH, eJPT, CC (ISC2), Google Cybersecurity</a:t>
            </a:r>
            <a:endParaRPr lang="en-US" sz="1800" dirty="0"/>
          </a:p>
        </p:txBody>
      </p:sp>
      <p:sp>
        <p:nvSpPr>
          <p:cNvPr id="6" name="Track Red Path"/>
          <p:cNvSpPr/>
          <p:nvPr/>
        </p:nvSpPr>
        <p:spPr>
          <a:xfrm>
            <a:off x="3355848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rack bar Red Path"/>
          <p:cNvSpPr/>
          <p:nvPr/>
        </p:nvSpPr>
        <p:spPr>
          <a:xfrm>
            <a:off x="3355848" y="1280160"/>
            <a:ext cx="2651760" cy="91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Red Path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PNPT, OSCP, CRTO, OSWE, OSED</a:t>
            </a:r>
            <a:endParaRPr lang="en-US" sz="1800" dirty="0"/>
          </a:p>
        </p:txBody>
      </p:sp>
      <p:sp>
        <p:nvSpPr>
          <p:cNvPr id="9" name="Track Blue Path"/>
          <p:cNvSpPr/>
          <p:nvPr/>
        </p:nvSpPr>
        <p:spPr>
          <a:xfrm>
            <a:off x="6163056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rack bar Blue Path"/>
          <p:cNvSpPr/>
          <p:nvPr/>
        </p:nvSpPr>
        <p:spPr>
          <a:xfrm>
            <a:off x="6163056" y="1280160"/>
            <a:ext cx="2651760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Blue Path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BTL1, CySA+, GCIH, GCFA, SC-200</a:t>
            </a:r>
            <a:endParaRPr lang="en-US" sz="1800" dirty="0"/>
          </a:p>
        </p:txBody>
      </p:sp>
      <p:sp>
        <p:nvSpPr>
          <p:cNvPr id="12" name="Track Management"/>
          <p:cNvSpPr/>
          <p:nvPr/>
        </p:nvSpPr>
        <p:spPr>
          <a:xfrm>
            <a:off x="8970264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rack bar Management"/>
          <p:cNvSpPr/>
          <p:nvPr/>
        </p:nvSpPr>
        <p:spPr>
          <a:xfrm>
            <a:off x="8970264" y="1280160"/>
            <a:ext cx="2651760" cy="914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Management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CISSP, CISM, CISA, CCSP</a:t>
            </a:r>
            <a:endParaRPr lang="en-US" sz="1800" dirty="0"/>
          </a:p>
        </p:txBody>
      </p:sp>
      <p:sp>
        <p:nvSpPr>
          <p:cNvPr id="15" name="Step Foundations"/>
          <p:cNvSpPr/>
          <p:nvPr/>
        </p:nvSpPr>
        <p:spPr>
          <a:xfrm>
            <a:off x="548640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num 1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Foundations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Network, Linux, Python, Crypto</a:t>
            </a:r>
            <a:endParaRPr lang="en-US" sz="1600" dirty="0"/>
          </a:p>
        </p:txBody>
      </p:sp>
      <p:sp>
        <p:nvSpPr>
          <p:cNvPr id="19" name="Step Pick a side"/>
          <p:cNvSpPr/>
          <p:nvPr/>
        </p:nvSpPr>
        <p:spPr>
          <a:xfrm>
            <a:off x="2798064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tep num 2"/>
          <p:cNvSpPr/>
          <p:nvPr/>
        </p:nvSpPr>
        <p:spPr>
          <a:xfrm>
            <a:off x="2980944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8094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980944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Pick a side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Red or Blue, then cross-train</a:t>
            </a:r>
            <a:endParaRPr lang="en-US" sz="1600" dirty="0"/>
          </a:p>
        </p:txBody>
      </p:sp>
      <p:sp>
        <p:nvSpPr>
          <p:cNvPr id="23" name="Step Practice"/>
          <p:cNvSpPr/>
          <p:nvPr/>
        </p:nvSpPr>
        <p:spPr>
          <a:xfrm>
            <a:off x="5047488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Step num 3"/>
          <p:cNvSpPr/>
          <p:nvPr/>
        </p:nvSpPr>
        <p:spPr>
          <a:xfrm>
            <a:off x="5230368" y="40233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3036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Practice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THM, HTB, CTFs, home lab</a:t>
            </a:r>
            <a:endParaRPr lang="en-US" sz="1600" dirty="0"/>
          </a:p>
        </p:txBody>
      </p:sp>
      <p:sp>
        <p:nvSpPr>
          <p:cNvPr id="27" name="Step Specialize"/>
          <p:cNvSpPr/>
          <p:nvPr/>
        </p:nvSpPr>
        <p:spPr>
          <a:xfrm>
            <a:off x="7296912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Step num 4"/>
          <p:cNvSpPr/>
          <p:nvPr/>
        </p:nvSpPr>
        <p:spPr>
          <a:xfrm>
            <a:off x="7479792" y="4023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9792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479792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Specialize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Cloud, AppSec, DFIR, Intel</a:t>
            </a:r>
            <a:endParaRPr lang="en-US" sz="1600" dirty="0"/>
          </a:p>
        </p:txBody>
      </p:sp>
      <p:sp>
        <p:nvSpPr>
          <p:cNvPr id="31" name="Step Credential"/>
          <p:cNvSpPr/>
          <p:nvPr/>
        </p:nvSpPr>
        <p:spPr>
          <a:xfrm>
            <a:off x="9546336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Step num 5"/>
          <p:cNvSpPr/>
          <p:nvPr/>
        </p:nvSpPr>
        <p:spPr>
          <a:xfrm>
            <a:off x="9729216" y="4023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921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729216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Credential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Exam for your track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stripe Foundations"/>
          <p:cNvSpPr/>
          <p:nvPr/>
        </p:nvSpPr>
        <p:spPr>
          <a:xfrm>
            <a:off x="0" y="0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ottom stripe Foundations"/>
          <p:cNvSpPr/>
          <p:nvPr/>
        </p:nvSpPr>
        <p:spPr>
          <a:xfrm>
            <a:off x="0" y="6693408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op stripe Red Team"/>
          <p:cNvSpPr/>
          <p:nvPr/>
        </p:nvSpPr>
        <p:spPr>
          <a:xfrm>
            <a:off x="2031492" y="0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Bottom stripe Red Team"/>
          <p:cNvSpPr/>
          <p:nvPr/>
        </p:nvSpPr>
        <p:spPr>
          <a:xfrm>
            <a:off x="2031492" y="6693408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op stripe Blue Team"/>
          <p:cNvSpPr/>
          <p:nvPr/>
        </p:nvSpPr>
        <p:spPr>
          <a:xfrm>
            <a:off x="4062984" y="0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Bottom stripe Blue Team"/>
          <p:cNvSpPr/>
          <p:nvPr/>
        </p:nvSpPr>
        <p:spPr>
          <a:xfrm>
            <a:off x="4062984" y="6693408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op stripe Purple Team"/>
          <p:cNvSpPr/>
          <p:nvPr/>
        </p:nvSpPr>
        <p:spPr>
          <a:xfrm>
            <a:off x="6094476" y="0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Bottom stripe Purple Team"/>
          <p:cNvSpPr/>
          <p:nvPr/>
        </p:nvSpPr>
        <p:spPr>
          <a:xfrm>
            <a:off x="6094476" y="6693408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op stripe Specialized &amp; Engineering"/>
          <p:cNvSpPr/>
          <p:nvPr/>
        </p:nvSpPr>
        <p:spPr>
          <a:xfrm>
            <a:off x="8125968" y="0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Bottom stripe Specialized &amp; Engineering"/>
          <p:cNvSpPr/>
          <p:nvPr/>
        </p:nvSpPr>
        <p:spPr>
          <a:xfrm>
            <a:off x="8125968" y="6693408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op stripe GRC &amp; Legal"/>
          <p:cNvSpPr/>
          <p:nvPr/>
        </p:nvSpPr>
        <p:spPr>
          <a:xfrm>
            <a:off x="10157460" y="0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ttom stripe GRC &amp; Legal"/>
          <p:cNvSpPr/>
          <p:nvPr/>
        </p:nvSpPr>
        <p:spPr>
          <a:xfrm>
            <a:off x="10157460" y="6693408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Learn it. Practice it. Protect it.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Educational reference. Only test systems you own or have written permission to test.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github.com/Syed-Muhammad-Tayyab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Tree">
  <a:themeElements>
    <a:clrScheme name="CyberTree">
      <a:dk1>
        <a:srgbClr val="0D1117"/>
      </a:dk1>
      <a:lt1>
        <a:srgbClr val="FFFFFF"/>
      </a:lt1>
      <a:dk2>
        <a:srgbClr val="161B22"/>
      </a:dk2>
      <a:lt2>
        <a:srgbClr val="9AA4AF"/>
      </a:lt2>
      <a:accent1>
        <a:srgbClr val="F59E0B"/>
      </a:accent1>
      <a:accent2>
        <a:srgbClr val="EF4444"/>
      </a:accent2>
      <a:accent3>
        <a:srgbClr val="3B82F6"/>
      </a:accent3>
      <a:accent4>
        <a:srgbClr val="A855F7"/>
      </a:accent4>
      <a:accent5>
        <a:srgbClr val="10B981"/>
      </a:accent5>
      <a:accent6>
        <a:srgbClr val="06B6D4"/>
      </a:accent6>
      <a:hlink>
        <a:srgbClr val="58A6FF"/>
      </a:hlink>
      <a:folHlink>
        <a:srgbClr val="A855F7"/>
      </a:folHlink>
    </a:clrScheme>
    <a:fontScheme name="CyberTre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Cyber Security Tree</dc:title>
  <dc:subject>PptxGenJS Presentation</dc:subject>
  <dc:creator>Syed</dc:creator>
  <cp:lastModifiedBy>Syed</cp:lastModifiedBy>
  <cp:revision>1</cp:revision>
  <dcterms:created xsi:type="dcterms:W3CDTF">2026-10-15T20:28:55Z</dcterms:created>
  <dcterms:modified xsi:type="dcterms:W3CDTF">2026-10-15T20:28:55Z</dcterms:modified>
</cp:coreProperties>
</file>